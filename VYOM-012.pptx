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1"/>
  </p:notesMasterIdLst>
  <p:sldIdLst>
    <p:sldId id="256" r:id="rId4"/>
    <p:sldId id="258" r:id="rId5"/>
    <p:sldId id="259" r:id="rId6"/>
    <p:sldId id="261" r:id="rId7"/>
    <p:sldId id="262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C77D0-DBB0-4870-B899-CBDBE2F76315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1F294-F3C7-4199-A578-395D66766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036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B7EF-2885-26CF-7B92-6C45BB941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5DB38-5B60-94B0-969A-D8FEA730E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45379-5FA5-65E2-B8F4-2E8EB508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EF04-BC16-BCE7-53B9-FAEC123C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AA86-CE04-42A8-F560-439C21F5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35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1716-27DE-33DA-BE8C-421994E6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88BB5-44B2-A6BC-46A8-39C4F63FA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334C7-6ED1-7BA2-8175-1D61B767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98D38-5FB0-2BE9-6AB5-B19568E1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57C30-6E56-CA25-32A5-3D41AA65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68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E2B9-C5A1-1B10-9A7E-8AE26065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EA7E9-2159-47B5-5A03-24C6ED4E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56997-F70D-1FF7-8857-70EB8BC5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552E1-A62C-7B3E-0546-4A31FFC5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435EA-34F3-8E25-44DF-F6B31D22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84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5EB8-D106-521E-DA99-F3933F3F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1F8AC-600C-8965-0BF5-0C9361F3E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06623-C6D4-AB69-48B2-1AFD901C8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6AF92-86E1-EB91-610B-EC36B363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AB9BB-D182-308B-0619-F0E19F69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034B2-9EA6-36BF-12AA-90EF405D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9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368C-1B38-496A-8D56-B5E2259F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2A53A-2A27-5C1D-AA98-D70EDD692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E3E47-5893-AB49-DB91-89D8AAFF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0B88E-8535-E880-1F68-5781DCA15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73E74-8BEA-E392-F371-FDCC74B61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3E9A2-D5C4-1BBD-6FB8-05AC1BB6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9389E-FC71-BB52-C197-8407EAD1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A41AD-021D-D059-9E84-AFC73B7D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7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9680-250B-923F-078D-748D2EDD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0AED5-B0A2-DB77-2C86-B9BE6848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37B64-CC51-76C5-9E10-5430EAD7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01E3C-56B2-4A78-DFD6-80419EEF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78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B188C-A786-E516-0B16-E56E2D21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A99EB-A1AC-C25A-8EB4-2D88B693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D72A7-3D42-76A8-8FD3-8F02FDA2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8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40A1-D581-DE35-DE5D-FA77289C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836F-6552-E16B-3F5A-FDF6DE955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42E5D-592C-6879-58B5-E48D283E1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E7B6A-05AE-ED34-88F9-2011AD41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F4FD8-75E1-2FCF-C23F-6D9DDC4C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3A13A-0CF0-6C88-A74F-F1DF0864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55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7DC6-E97A-8114-3BF4-08669F75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95404C-527C-CB8A-34AB-6D381E484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712AF-BB38-24D2-0CE1-104B879CC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599EF-F5E1-EDA3-5119-CA769746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734C9-999C-61A8-62DD-4F2B6C4F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D0CB-86F0-1225-D52D-B82FAF7B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8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9C75-A4B8-65B8-4846-F110A08C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159B4-47CD-7788-A89B-287B0563C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73412-2083-E74D-E83B-1F5177F21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1B8DE-EA15-2DD3-3A08-4697E66E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1915A-B9F4-6F4F-CA0D-889CBB325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74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F63F9F-DF2F-DC92-5529-BE5EDFB90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9851B-1D85-BAA1-EB09-F0AE94AB6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DCF3E-3BC4-2846-0EC9-E7057643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80715-5580-63E3-F289-77C48C95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215B8-6685-6E5D-A428-F6121559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50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9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1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00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8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4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32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3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07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959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99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73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73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80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91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57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14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085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728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376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071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2672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78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93161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7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895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0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CFF81-5614-65E6-43A7-02D34E3C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75489-8CE7-4250-2A0A-EF68A942F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ADD85-51B2-5B58-BCF2-0B608AD43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7E698-769A-485D-B5C4-D6EF5FA6504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BDF9D-40F3-6E51-D9D7-FBF43D171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37FB6-C2ED-5C71-AA88-8B1516867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7254D-4A4B-4FF4-98E5-EF0A506A99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97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1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7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7D3C8D-1A7E-501B-4EC6-8914CEA46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1E944B-11F1-8FA0-7B63-6CFA144F561C}"/>
              </a:ext>
            </a:extLst>
          </p:cNvPr>
          <p:cNvSpPr txBox="1"/>
          <p:nvPr/>
        </p:nvSpPr>
        <p:spPr>
          <a:xfrm>
            <a:off x="8957188" y="5004620"/>
            <a:ext cx="3057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Presented by</a:t>
            </a:r>
          </a:p>
          <a:p>
            <a:endParaRPr lang="en-US" dirty="0"/>
          </a:p>
          <a:p>
            <a:r>
              <a:rPr lang="en-US" dirty="0"/>
              <a:t>Nipun - 2451-26-735-061</a:t>
            </a:r>
          </a:p>
          <a:p>
            <a:r>
              <a:rPr lang="en-US" dirty="0"/>
              <a:t>Deepankar-2451-26-735-480</a:t>
            </a:r>
          </a:p>
          <a:p>
            <a:r>
              <a:rPr lang="en-US" dirty="0"/>
              <a:t>Rishith-2451-26-735-271</a:t>
            </a:r>
            <a:br>
              <a:rPr lang="en-US" dirty="0">
                <a:highlight>
                  <a:srgbClr val="FFFF00"/>
                </a:highlight>
              </a:rPr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000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950987"/>
            <a:ext cx="11277600" cy="3146524"/>
          </a:xfrm>
          <a:prstGeom prst="roundRect">
            <a:avLst>
              <a:gd name="adj" fmla="val 6054"/>
            </a:avLst>
          </a:prstGeom>
          <a:solidFill>
            <a:srgbClr val="242131"/>
          </a:solidFill>
          <a:ln w="19050">
            <a:solidFill>
              <a:srgbClr val="71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534650" y="323850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2F2C3B"/>
          </a:solidFill>
          <a:ln w="9525">
            <a:solidFill>
              <a:srgbClr val="3A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617220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561975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2819400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4675" y="333375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3725" y="3581400"/>
            <a:ext cx="1333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" y="327660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" y="36195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950" y="3962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50" y="3343275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0150" y="3686175"/>
            <a:ext cx="11430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700" y="500062"/>
            <a:ext cx="958244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FFFFF"/>
                </a:solidFill>
                <a:latin typeface="Plus Jakarta Sans"/>
              </a:rPr>
              <a:t>PROBLEM STATEMENT: SECURE SATELLITE SIMULATOR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137" y="2427237"/>
            <a:ext cx="9763125" cy="2194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Develop a </a:t>
            </a:r>
            <a:r>
              <a:rPr sz="1800" b="1" i="0" u="none" dirty="0">
                <a:solidFill>
                  <a:srgbClr val="FDBA74"/>
                </a:solidFill>
                <a:latin typeface="Plus Jakarta Sans"/>
              </a:rPr>
              <a:t>Secure Telemetry</a:t>
            </a: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 and </a:t>
            </a:r>
            <a:r>
              <a:rPr sz="1800" b="1" i="0" u="none" dirty="0">
                <a:solidFill>
                  <a:srgbClr val="FDBA74"/>
                </a:solidFill>
                <a:latin typeface="Plus Jakarta Sans"/>
              </a:rPr>
              <a:t>Command Validation Simulator</a:t>
            </a: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 to </a:t>
            </a:r>
            <a:r>
              <a:rPr sz="1800" b="1" i="0" u="none" dirty="0">
                <a:solidFill>
                  <a:srgbClr val="FDBA74"/>
                </a:solidFill>
                <a:latin typeface="Plus Jakarta Sans"/>
              </a:rPr>
              <a:t>validate</a:t>
            </a: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 synthetic satellite messages, </a:t>
            </a:r>
            <a:r>
              <a:rPr sz="1800" b="1" i="0" u="none" dirty="0">
                <a:solidFill>
                  <a:srgbClr val="FDBA74"/>
                </a:solidFill>
                <a:latin typeface="Plus Jakarta Sans"/>
              </a:rPr>
              <a:t>verify data integrity</a:t>
            </a: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 and </a:t>
            </a:r>
            <a:r>
              <a:rPr sz="1800" b="1" i="0" u="none" dirty="0">
                <a:solidFill>
                  <a:srgbClr val="FDBA74"/>
                </a:solidFill>
                <a:latin typeface="Plus Jakarta Sans"/>
              </a:rPr>
              <a:t>command authorization</a:t>
            </a: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, detect invalid or outdated messages, and log acceptance or rejection reasons. The system must operate </a:t>
            </a:r>
            <a:r>
              <a:rPr sz="1800" b="1" i="0" u="none" dirty="0">
                <a:solidFill>
                  <a:srgbClr val="FDBA74"/>
                </a:solidFill>
                <a:latin typeface="Plus Jakarta Sans"/>
              </a:rPr>
              <a:t>locally</a:t>
            </a:r>
            <a:r>
              <a:rPr sz="1800" b="0" i="0" u="none" dirty="0">
                <a:solidFill>
                  <a:srgbClr val="F1F5F9"/>
                </a:solidFill>
                <a:latin typeface="Plus Jakarta Sans"/>
              </a:rPr>
              <a:t> without connecting to real satellite systems or implementing custom cryptography.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600" y="4554884"/>
            <a:ext cx="2600325" cy="1845915"/>
          </a:xfrm>
          <a:prstGeom prst="roundRect">
            <a:avLst>
              <a:gd name="adj" fmla="val 8256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0425" y="4554884"/>
            <a:ext cx="2600325" cy="1845915"/>
          </a:xfrm>
          <a:prstGeom prst="roundRect">
            <a:avLst>
              <a:gd name="adj" fmla="val 8256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4554884"/>
            <a:ext cx="2600325" cy="1845915"/>
          </a:xfrm>
          <a:prstGeom prst="roundRect">
            <a:avLst>
              <a:gd name="adj" fmla="val 8256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82075" y="4554884"/>
            <a:ext cx="2600325" cy="1845915"/>
          </a:xfrm>
          <a:prstGeom prst="roundRect">
            <a:avLst>
              <a:gd name="adj" fmla="val 8256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720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5619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33950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025" y="483483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4834830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675" y="4834830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1100" y="523875"/>
            <a:ext cx="824478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FFFFF"/>
                </a:solidFill>
                <a:latin typeface="Plus Jakarta Sans"/>
              </a:rPr>
              <a:t>SOLUTIONS: SECURITY &amp; VALIDATION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332065"/>
            <a:ext cx="22383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Rejects non-JSON syntax and missing required fields (message_id, sequence, timestamp, command, value).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5133975"/>
            <a:ext cx="22383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Intercepts type confusion and enforces safe physical bounds (e.g., RF power clamped between 0.0% and 100.0%).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5133975"/>
            <a:ext cx="22383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Dynamic ISO 8601 clock drift detection (−300s to +60s) prevents stale replay. Stateful sequence tracking rejects duplicates.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5133975"/>
            <a:ext cx="22383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Every decision classified with reason codes and saved in real-time to both readable audit.log and SIEM-ready audit.jsonl.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4821584"/>
            <a:ext cx="2070258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Zero-Trust Input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725" y="4821584"/>
            <a:ext cx="2125265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Type Safety &amp; Bounds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550" y="4821584"/>
            <a:ext cx="238779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Anti-Replay &amp; Freshness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6425" y="4821584"/>
            <a:ext cx="1512689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Dual Audit Trails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39225" y="533400"/>
            <a:ext cx="2543175" cy="381000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703040"/>
            <a:ext cx="3505200" cy="4621559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9525">
            <a:solidFill>
              <a:srgbClr val="1B2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43400" y="1703040"/>
            <a:ext cx="3505200" cy="4621559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9525">
            <a:solidFill>
              <a:srgbClr val="1B2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77200" y="1703040"/>
            <a:ext cx="3505200" cy="4621559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9525">
            <a:solidFill>
              <a:srgbClr val="1B2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3925" y="5619750"/>
            <a:ext cx="2876550" cy="390525"/>
          </a:xfrm>
          <a:prstGeom prst="roundRect">
            <a:avLst>
              <a:gd name="adj" fmla="val 19512"/>
            </a:avLst>
          </a:prstGeom>
          <a:solidFill>
            <a:srgbClr val="15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57725" y="5619750"/>
            <a:ext cx="2876550" cy="390525"/>
          </a:xfrm>
          <a:prstGeom prst="roundRect">
            <a:avLst>
              <a:gd name="adj" fmla="val 19512"/>
            </a:avLst>
          </a:prstGeom>
          <a:solidFill>
            <a:srgbClr val="15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91525" y="5619750"/>
            <a:ext cx="2876550" cy="390525"/>
          </a:xfrm>
          <a:prstGeom prst="roundRect">
            <a:avLst>
              <a:gd name="adj" fmla="val 19512"/>
            </a:avLst>
          </a:prstGeom>
          <a:solidFill>
            <a:srgbClr val="15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0" y="638175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01736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5748337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01736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5748337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1525" y="2017365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3925" y="5748337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" y="2141190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7262" y="2141190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1062" y="2141190"/>
            <a:ext cx="23812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569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SECURE SATELLITE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819150"/>
            <a:ext cx="5975746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5950" y="642937"/>
            <a:ext cx="2345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Zero-Trust Telemetry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47456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Decoupled 5-Stage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2855565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Fail-Fast Validation: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Sequential message evaluation with immediate termination on first anomaly.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825" y="5734050"/>
            <a:ext cx="2428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Deterministic execution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247456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Stateful Session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725" y="2855565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Anti-Replay Cache: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In-memory sequence tracking prevents packet repetition &amp; rollbacks.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625" y="5734050"/>
            <a:ext cx="1940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Zero replay vulnerability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1525" y="247456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Dual Presentation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525" y="2855565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CLI &amp; Web Dashboard: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Headless batch engine paired with real-time interactive GUI.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3475" y="5734050"/>
            <a:ext cx="1821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Live telemetry streams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hanced_4k.png">
            <a:extLst>
              <a:ext uri="{FF2B5EF4-FFF2-40B4-BE49-F238E27FC236}">
                <a16:creationId xmlns:a16="http://schemas.microsoft.com/office/drawing/2014/main" id="{D33F55CD-8B6C-E84A-BEA8-EDDFE33D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70"/>
            <a:ext cx="12184811" cy="685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7FF"/>
          </a:solidFill>
          <a:ln w="12700">
            <a:solidFill>
              <a:srgbClr val="0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SATGUARD  /  SECURITY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LIVE SECURITY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71016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Synthetic-message test plan • Expected outcomes for the local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7072" y="310896"/>
            <a:ext cx="2999232" cy="384048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0" y="320040"/>
            <a:ext cx="278892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B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LOCAL SIMULATION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0512"/>
            <a:ext cx="3355848" cy="93268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50292" cy="932688"/>
          </a:xfrm>
          <a:prstGeom prst="rect">
            <a:avLst/>
          </a:prstGeom>
          <a:solidFill>
            <a:srgbClr val="00E7FF"/>
          </a:solidFill>
          <a:ln w="12700">
            <a:solidFill>
              <a:srgbClr val="0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920240"/>
            <a:ext cx="292608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67128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10512"/>
            <a:ext cx="3355848" cy="93268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16552" y="1810512"/>
            <a:ext cx="50292" cy="932688"/>
          </a:xfrm>
          <a:prstGeom prst="rect">
            <a:avLst/>
          </a:prstGeom>
          <a:solidFill>
            <a:srgbClr val="00EBA0"/>
          </a:solidFill>
          <a:ln w="12700">
            <a:solidFill>
              <a:srgbClr val="0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292608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EXPECTED 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0EB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1810512"/>
            <a:ext cx="3355848" cy="93268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38744" y="1810512"/>
            <a:ext cx="50292" cy="932688"/>
          </a:xfrm>
          <a:prstGeom prst="rect">
            <a:avLst/>
          </a:prstGeom>
          <a:solidFill>
            <a:srgbClr val="FF5270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292608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EXPECTED REJECT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67128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971800"/>
            <a:ext cx="640080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VALIDATION OBJECTIVES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383280"/>
            <a:ext cx="6720840" cy="438912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8096" y="3401568"/>
            <a:ext cx="438912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401568"/>
            <a:ext cx="201168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EXPECTED OUTCOME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867912"/>
            <a:ext cx="6720840" cy="324612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0C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8096" y="3872484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 telemetry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7216" y="3927348"/>
            <a:ext cx="1124712" cy="210312"/>
          </a:xfrm>
          <a:prstGeom prst="roundRect">
            <a:avLst/>
          </a:prstGeom>
          <a:solidFill>
            <a:srgbClr val="0D2C2B"/>
          </a:solidFill>
          <a:ln w="12700">
            <a:solidFill>
              <a:srgbClr val="0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57216" y="3918204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B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ACCEPT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215384"/>
            <a:ext cx="6720840" cy="324612"/>
          </a:xfrm>
          <a:prstGeom prst="roundRect">
            <a:avLst/>
          </a:prstGeom>
          <a:solidFill>
            <a:srgbClr val="08101F"/>
          </a:solidFill>
          <a:ln w="12700">
            <a:solidFill>
              <a:srgbClr val="08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8096" y="4219956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Missing required field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57216" y="4274820"/>
            <a:ext cx="1124712" cy="210312"/>
          </a:xfrm>
          <a:prstGeom prst="roundRect">
            <a:avLst/>
          </a:prstGeom>
          <a:solidFill>
            <a:srgbClr val="331422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57216" y="4265676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REJECT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4562856"/>
            <a:ext cx="6720840" cy="324612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0C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8096" y="4567428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Invalid temperature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57216" y="4622292"/>
            <a:ext cx="1124712" cy="210312"/>
          </a:xfrm>
          <a:prstGeom prst="roundRect">
            <a:avLst/>
          </a:prstGeom>
          <a:solidFill>
            <a:srgbClr val="331422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57216" y="4613148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REJECT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4910328"/>
            <a:ext cx="6720840" cy="324612"/>
          </a:xfrm>
          <a:prstGeom prst="roundRect">
            <a:avLst/>
          </a:prstGeom>
          <a:solidFill>
            <a:srgbClr val="08101F"/>
          </a:solidFill>
          <a:ln w="12700">
            <a:solidFill>
              <a:srgbClr val="08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8096" y="4914900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Stale timestamp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57216" y="4969764"/>
            <a:ext cx="1124712" cy="210312"/>
          </a:xfrm>
          <a:prstGeom prst="roundRect">
            <a:avLst/>
          </a:prstGeom>
          <a:solidFill>
            <a:srgbClr val="331422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57216" y="4960620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REJECT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5257800"/>
            <a:ext cx="6720840" cy="324612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0C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8096" y="5262372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Duplicate sequence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57216" y="5317236"/>
            <a:ext cx="1124712" cy="210312"/>
          </a:xfrm>
          <a:prstGeom prst="roundRect">
            <a:avLst/>
          </a:prstGeom>
          <a:solidFill>
            <a:srgbClr val="331422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57216" y="5308092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REJECT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" y="5605272"/>
            <a:ext cx="6720840" cy="324612"/>
          </a:xfrm>
          <a:prstGeom prst="roundRect">
            <a:avLst/>
          </a:prstGeom>
          <a:solidFill>
            <a:srgbClr val="08101F"/>
          </a:solidFill>
          <a:ln w="12700">
            <a:solidFill>
              <a:srgbClr val="08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8096" y="5609844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Unauthorized command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57216" y="5664708"/>
            <a:ext cx="1124712" cy="210312"/>
          </a:xfrm>
          <a:prstGeom prst="roundRect">
            <a:avLst/>
          </a:prstGeom>
          <a:solidFill>
            <a:srgbClr val="331422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57216" y="5655564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REJECT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" y="5952744"/>
            <a:ext cx="6720840" cy="324612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0C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8096" y="5957316"/>
            <a:ext cx="4389120" cy="3154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Malformed JSON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57216" y="6012180"/>
            <a:ext cx="1124712" cy="210312"/>
          </a:xfrm>
          <a:prstGeom prst="roundRect">
            <a:avLst/>
          </a:prstGeom>
          <a:solidFill>
            <a:srgbClr val="331422"/>
          </a:solidFill>
          <a:ln w="12700">
            <a:solidFill>
              <a:srgbClr val="FF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57216" y="6003036"/>
            <a:ext cx="1124712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52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REJECT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62672" y="3383280"/>
            <a:ext cx="3913632" cy="2889504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882127" y="359359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593592"/>
            <a:ext cx="299923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Schema &amp; required fields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40050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005072"/>
            <a:ext cx="299923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Physical-value range checks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441655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416552"/>
            <a:ext cx="299923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Timestamp freshness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82127" y="482803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828032"/>
            <a:ext cx="299923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Sequence / replay protection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523951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239512"/>
            <a:ext cx="299923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Command allowlist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2127" y="565099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5650992"/>
            <a:ext cx="2999232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JSON parsing &amp; error handling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03504" y="6199632"/>
            <a:ext cx="10972800" cy="0"/>
          </a:xfrm>
          <a:prstGeom prst="line">
            <a:avLst/>
          </a:prstGeom>
          <a:ln w="12700">
            <a:solidFill>
              <a:srgbClr val="243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21792" y="6281928"/>
            <a:ext cx="804672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 NOTE  •  Show each input, decision, rejection reason and audit entry live.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6281928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SATGUARD  •  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7FF"/>
          </a:solidFill>
          <a:ln w="12700">
            <a:solidFill>
              <a:srgbClr val="0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389120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SATGUARD  /  PROJECT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92608"/>
            <a:ext cx="2267712" cy="36576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45168" y="297180"/>
            <a:ext cx="2139696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B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SECURITY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41241"/>
            <a:ext cx="10789920" cy="510909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WHY 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ECURE/TELEMETRY COMMAND SIMULATOR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298448"/>
            <a:ext cx="10607040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safe, testable approach to validating synthetic satellite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01952"/>
            <a:ext cx="3364992" cy="175564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1901952"/>
            <a:ext cx="50292" cy="1755648"/>
          </a:xfrm>
          <a:prstGeom prst="rect">
            <a:avLst/>
          </a:prstGeom>
          <a:solidFill>
            <a:srgbClr val="00E7FF"/>
          </a:solidFill>
          <a:ln w="12700">
            <a:solidFill>
              <a:srgbClr val="0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2039112"/>
            <a:ext cx="51206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2048256"/>
            <a:ext cx="987552" cy="265176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16352" y="2048256"/>
            <a:ext cx="950976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432304"/>
            <a:ext cx="2990088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LOCAL-FIRST &amp;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788920"/>
            <a:ext cx="2990088" cy="667512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Runs on synthetic local data—no live satellite connection or real command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901952"/>
            <a:ext cx="3364992" cy="175564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07408" y="1901952"/>
            <a:ext cx="50292" cy="1755648"/>
          </a:xfrm>
          <a:prstGeom prst="rect">
            <a:avLst/>
          </a:prstGeom>
          <a:solidFill>
            <a:srgbClr val="4B96FF"/>
          </a:solidFill>
          <a:ln w="12700">
            <a:solidFill>
              <a:srgbClr val="4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81144" y="2039112"/>
            <a:ext cx="51206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4B9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048256"/>
            <a:ext cx="987552" cy="265176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1968" y="2048256"/>
            <a:ext cx="950976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4B9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432304"/>
            <a:ext cx="2990088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LAYERED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88920"/>
            <a:ext cx="2990088" cy="667512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Checks message structure, required fields, data types and policy before simulated processing.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1901952"/>
            <a:ext cx="3364992" cy="175564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93024" y="1901952"/>
            <a:ext cx="50292" cy="1755648"/>
          </a:xfrm>
          <a:prstGeom prst="rect">
            <a:avLst/>
          </a:prstGeom>
          <a:solidFill>
            <a:srgbClr val="A477FF"/>
          </a:solidFill>
          <a:ln w="12700">
            <a:solidFill>
              <a:srgbClr val="A4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6760" y="2039112"/>
            <a:ext cx="51206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A47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9296" y="2048256"/>
            <a:ext cx="987552" cy="265176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87584" y="2048256"/>
            <a:ext cx="950976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A47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432304"/>
            <a:ext cx="2990088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REPLAY &amp; FRESHNESS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788920"/>
            <a:ext cx="2990088" cy="667512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Uses timestamps and sequence tracking to identify stale or repeated messages.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968496"/>
            <a:ext cx="3364992" cy="175564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1792" y="3968496"/>
            <a:ext cx="50292" cy="1755648"/>
          </a:xfrm>
          <a:prstGeom prst="rect">
            <a:avLst/>
          </a:prstGeom>
          <a:solidFill>
            <a:srgbClr val="00EBA0"/>
          </a:solidFill>
          <a:ln w="12700">
            <a:solidFill>
              <a:srgbClr val="0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8" y="4105656"/>
            <a:ext cx="51206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B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98064" y="4114800"/>
            <a:ext cx="987552" cy="265176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16352" y="4114800"/>
            <a:ext cx="950976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EB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498848"/>
            <a:ext cx="2990088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EXPLAINABLE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855464"/>
            <a:ext cx="2990088" cy="667512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Records accept/reject outcomes with clear reasons for investigation and review.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7408" y="3968496"/>
            <a:ext cx="3364992" cy="175564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07408" y="3968496"/>
            <a:ext cx="50292" cy="1755648"/>
          </a:xfrm>
          <a:prstGeom prst="rect">
            <a:avLst/>
          </a:prstGeom>
          <a:solidFill>
            <a:srgbClr val="FFBE46"/>
          </a:solidFill>
          <a:ln w="12700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81144" y="4105656"/>
            <a:ext cx="51206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BE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114800"/>
            <a:ext cx="987552" cy="265176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01968" y="4114800"/>
            <a:ext cx="950976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BE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144" y="4498848"/>
            <a:ext cx="2990088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AUTOMATED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1144" y="4855464"/>
            <a:ext cx="2990088" cy="667512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Uses valid and seeded-invalid cases to verify expected security behaviour.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93024" y="3968496"/>
            <a:ext cx="3364992" cy="1755648"/>
          </a:xfrm>
          <a:prstGeom prst="roundRect">
            <a:avLst/>
          </a:prstGeom>
          <a:solidFill>
            <a:srgbClr val="0C162A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193024" y="3968496"/>
            <a:ext cx="50292" cy="1755648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66760" y="4105656"/>
            <a:ext cx="51206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5D8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69296" y="4114800"/>
            <a:ext cx="987552" cy="265176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387584" y="4114800"/>
            <a:ext cx="950976" cy="25603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5D8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IMPROVE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498848"/>
            <a:ext cx="2990088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HONEST ROADMAP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855464"/>
            <a:ext cx="2990088" cy="667512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DB0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Documents current limitations, with standard sender authentication as a future enhancement.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989320"/>
            <a:ext cx="10936224" cy="438912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24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4672" y="5998464"/>
            <a:ext cx="502920" cy="40233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2" y="5998464"/>
            <a:ext cx="9966960" cy="40233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0F6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SATGUARD makes each validation decision visible, explainable and testable.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6510528"/>
            <a:ext cx="1993392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E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SATGUARD  •  WHY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Words>488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Aptos</vt:lpstr>
      <vt:lpstr>Aptos Display</vt:lpstr>
      <vt:lpstr>Arial</vt:lpstr>
      <vt:lpstr>Arial Nova Light</vt:lpstr>
      <vt:lpstr>Calibri</vt:lpstr>
      <vt:lpstr>Century Gothic</vt:lpstr>
      <vt:lpstr>Inter</vt:lpstr>
      <vt:lpstr>Plus Jakarta Sans</vt:lpstr>
      <vt:lpstr>Space Grotesk</vt:lpstr>
      <vt:lpstr>Wingdings 3</vt:lpstr>
      <vt:lpstr>Office Theme</vt:lpstr>
      <vt:lpstr>1_Office Theme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t72836</dc:creator>
  <cp:lastModifiedBy>t72836</cp:lastModifiedBy>
  <cp:revision>3</cp:revision>
  <dcterms:created xsi:type="dcterms:W3CDTF">2026-10-16T09:08:05Z</dcterms:created>
  <dcterms:modified xsi:type="dcterms:W3CDTF">2026-10-16T17:00:13Z</dcterms:modified>
</cp:coreProperties>
</file>